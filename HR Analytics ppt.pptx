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36" r:id="rId12"/>
    <p:sldId id="578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73818" autoAdjust="0"/>
  </p:normalViewPr>
  <p:slideViewPr>
    <p:cSldViewPr snapToGrid="0" showGuides="1">
      <p:cViewPr varScale="1">
        <p:scale>
          <a:sx n="47" d="100"/>
          <a:sy n="47" d="100"/>
        </p:scale>
        <p:origin x="-86" y="-1310"/>
      </p:cViewPr>
      <p:guideLst>
        <p:guide orient="horz" pos="672"/>
        <p:guide orient="horz" pos="912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pPr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pPr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52927" y="268013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100" b="1" dirty="0"/>
              <a:t/>
            </a:r>
            <a:br>
              <a:rPr lang="en-US" sz="5100" b="1" dirty="0"/>
            </a:br>
            <a:r>
              <a:rPr lang="en-US" sz="5100" b="1" cap="all" dirty="0" smtClean="0">
                <a:latin typeface="Arial Black" pitchFamily="34" charset="0"/>
              </a:rPr>
              <a:t>HR Analytics Dashboard</a:t>
            </a:r>
            <a:endParaRPr lang="en-US" sz="5100" dirty="0">
              <a:latin typeface="Arial Black" pitchFamily="34" charset="0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386255" y="3739889"/>
            <a:ext cx="4989786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</a:t>
            </a:r>
            <a:r>
              <a:rPr lang="en-US" sz="1600" b="1" cap="all" dirty="0" smtClean="0"/>
              <a:t>: Aditya Kumar Verma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</a:t>
            </a:r>
            <a:r>
              <a:rPr lang="en-US" sz="1600" b="1" cap="all" dirty="0" smtClean="0"/>
              <a:t>: SRM IST Delhi NCR Campus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</a:t>
            </a:r>
            <a:r>
              <a:rPr lang="en-US" sz="1600" b="1" cap="all" dirty="0" smtClean="0"/>
              <a:t>: BTECH CSE (Data science)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</a:t>
            </a:r>
            <a:r>
              <a:rPr lang="en-US" sz="1600" b="1" cap="all" dirty="0" smtClean="0"/>
              <a:t>: AV1753@srmist.edu.in</a:t>
            </a:r>
            <a:endParaRPr lang="en-US" sz="1600" b="1" cap="all" dirty="0"/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 descr="adi resume pic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36979" y="1489842"/>
            <a:ext cx="3681248" cy="36812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400" dirty="0" smtClean="0"/>
              <a:t>Employee attrition is a major challenge for organizations as it </a:t>
            </a:r>
            <a:r>
              <a:rPr lang="en-US" sz="2400" dirty="0" smtClean="0"/>
              <a:t>affects</a:t>
            </a:r>
          </a:p>
          <a:p>
            <a:pPr>
              <a:buNone/>
            </a:pPr>
            <a:r>
              <a:rPr lang="en-US" sz="2400" dirty="0" smtClean="0"/>
              <a:t>productivity</a:t>
            </a:r>
            <a:r>
              <a:rPr lang="en-US" sz="2400" dirty="0" smtClean="0"/>
              <a:t>, increases hiring costs, and impacts overall workforce stability.</a:t>
            </a:r>
          </a:p>
          <a:p>
            <a:pPr>
              <a:buNone/>
            </a:pPr>
            <a:r>
              <a:rPr lang="en-US" sz="2400" dirty="0" smtClean="0"/>
              <a:t>Many organizations struggle to:</a:t>
            </a:r>
          </a:p>
          <a:p>
            <a:r>
              <a:rPr lang="en-US" sz="2400" dirty="0" smtClean="0"/>
              <a:t>Identify patterns behind employee attrition</a:t>
            </a:r>
          </a:p>
          <a:p>
            <a:r>
              <a:rPr lang="en-US" sz="2400" dirty="0" smtClean="0"/>
              <a:t>Understand factors such as salary, age, education, and job role affecting employee turnover</a:t>
            </a:r>
          </a:p>
          <a:p>
            <a:r>
              <a:rPr lang="en-US" sz="2400" dirty="0" smtClean="0"/>
              <a:t>Make data-driven decisions for </a:t>
            </a:r>
            <a:r>
              <a:rPr lang="en-US" sz="2400" dirty="0" smtClean="0"/>
              <a:t>employee retention</a:t>
            </a:r>
          </a:p>
          <a:p>
            <a:pPr algn="just">
              <a:buNone/>
            </a:pPr>
            <a:r>
              <a:rPr lang="en-US" sz="2400" dirty="0" smtClean="0"/>
              <a:t>Without proper analytics tools, HR departments find it difficult to analyze large employee datasets and identify the key reasons behind attrition.</a:t>
            </a: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dirty="0" smtClean="0"/>
              <a:t>The proposed system is an </a:t>
            </a:r>
            <a:r>
              <a:rPr lang="en-US" sz="2400" b="1" dirty="0" smtClean="0"/>
              <a:t>HR Analytics Dashboard built using Power </a:t>
            </a:r>
            <a:r>
              <a:rPr lang="en-US" sz="2400" b="1" dirty="0" smtClean="0"/>
              <a:t>BI</a:t>
            </a:r>
          </a:p>
          <a:p>
            <a:pPr>
              <a:buNone/>
            </a:pPr>
            <a:r>
              <a:rPr lang="en-US" sz="2400" dirty="0" smtClean="0"/>
              <a:t>to </a:t>
            </a:r>
            <a:r>
              <a:rPr lang="en-US" sz="2400" dirty="0" smtClean="0"/>
              <a:t>analyze employee attrition and workforce patterns.</a:t>
            </a:r>
          </a:p>
          <a:p>
            <a:pPr>
              <a:buNone/>
            </a:pPr>
            <a:r>
              <a:rPr lang="en-US" sz="2400" dirty="0" smtClean="0"/>
              <a:t>The dashboard helps HR teams to:</a:t>
            </a:r>
          </a:p>
          <a:p>
            <a:r>
              <a:rPr lang="en-US" sz="2400" dirty="0" smtClean="0"/>
              <a:t>Monitor employee attrition trends</a:t>
            </a:r>
          </a:p>
          <a:p>
            <a:r>
              <a:rPr lang="en-US" sz="2400" dirty="0" smtClean="0"/>
              <a:t>Analyze employee data based on age, salary, education, and job roles</a:t>
            </a:r>
          </a:p>
          <a:p>
            <a:r>
              <a:rPr lang="en-US" sz="2400" dirty="0" smtClean="0"/>
              <a:t>Identify departments or roles with higher attrition rates</a:t>
            </a:r>
          </a:p>
          <a:p>
            <a:r>
              <a:rPr lang="en-US" sz="2400" dirty="0" smtClean="0"/>
              <a:t>Support data-driven HR decision making</a:t>
            </a:r>
          </a:p>
          <a:p>
            <a:pPr>
              <a:buNone/>
            </a:pPr>
            <a:r>
              <a:rPr lang="en-US" sz="2400" dirty="0" smtClean="0"/>
              <a:t>The system transforms raw HR data into </a:t>
            </a:r>
            <a:r>
              <a:rPr lang="en-US" sz="2400" b="1" dirty="0" smtClean="0"/>
              <a:t>interactive visualizations </a:t>
            </a:r>
            <a:r>
              <a:rPr lang="en-US" sz="2400" b="1" dirty="0" smtClean="0"/>
              <a:t>for</a:t>
            </a:r>
          </a:p>
          <a:p>
            <a:pPr>
              <a:buNone/>
            </a:pPr>
            <a:r>
              <a:rPr lang="en-US" sz="2400" b="1" dirty="0" smtClean="0"/>
              <a:t>better </a:t>
            </a:r>
            <a:r>
              <a:rPr lang="en-US" sz="2400" b="1" dirty="0" smtClean="0"/>
              <a:t>insights.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buNone/>
            </a:pPr>
            <a:r>
              <a:rPr lang="en-US" sz="2400" dirty="0" smtClean="0"/>
              <a:t>The project follows a </a:t>
            </a:r>
            <a:r>
              <a:rPr lang="en-US" sz="2400" b="1" dirty="0" smtClean="0"/>
              <a:t>data analytics approach using Power BI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b="1" dirty="0" smtClean="0"/>
              <a:t>Technologies Used</a:t>
            </a:r>
          </a:p>
          <a:p>
            <a:r>
              <a:rPr lang="en-US" sz="2400" b="1" dirty="0" smtClean="0"/>
              <a:t>Power BI Desktop</a:t>
            </a:r>
            <a:r>
              <a:rPr lang="en-US" sz="2400" dirty="0" smtClean="0"/>
              <a:t> – Data visualization and dashboard creation</a:t>
            </a:r>
          </a:p>
          <a:p>
            <a:r>
              <a:rPr lang="en-US" sz="2400" b="1" dirty="0" smtClean="0"/>
              <a:t>Excel / HR Dataset</a:t>
            </a:r>
            <a:r>
              <a:rPr lang="en-US" sz="2400" dirty="0" smtClean="0"/>
              <a:t> – Data source</a:t>
            </a:r>
          </a:p>
          <a:p>
            <a:r>
              <a:rPr lang="en-US" sz="2400" b="1" dirty="0" smtClean="0"/>
              <a:t>Power Query</a:t>
            </a:r>
            <a:r>
              <a:rPr lang="en-US" sz="2400" dirty="0" smtClean="0"/>
              <a:t> – Data cleaning and transformation</a:t>
            </a:r>
          </a:p>
          <a:p>
            <a:r>
              <a:rPr lang="en-US" sz="2400" b="1" dirty="0" smtClean="0"/>
              <a:t>DAX (Data Analysis Expressions)</a:t>
            </a:r>
            <a:r>
              <a:rPr lang="en-US" sz="2400" dirty="0" smtClean="0"/>
              <a:t> – Calculations and </a:t>
            </a:r>
            <a:r>
              <a:rPr lang="en-US" sz="2400" dirty="0" smtClean="0"/>
              <a:t>measures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Development Steps</a:t>
            </a:r>
          </a:p>
          <a:p>
            <a:r>
              <a:rPr lang="en-US" sz="2400" dirty="0" smtClean="0"/>
              <a:t>Data Collection</a:t>
            </a:r>
          </a:p>
          <a:p>
            <a:r>
              <a:rPr lang="en-US" sz="2400" dirty="0" smtClean="0"/>
              <a:t>Data Cleaning and Transformation</a:t>
            </a:r>
          </a:p>
          <a:p>
            <a:r>
              <a:rPr lang="en-US" sz="2400" dirty="0" smtClean="0"/>
              <a:t>Data Modeling</a:t>
            </a:r>
          </a:p>
          <a:p>
            <a:r>
              <a:rPr lang="en-US" sz="2400" dirty="0" smtClean="0"/>
              <a:t>Dashboard Design</a:t>
            </a:r>
          </a:p>
          <a:p>
            <a:r>
              <a:rPr lang="en-US" sz="2400" dirty="0" smtClean="0"/>
              <a:t>Visualization and Analysis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27267"/>
            <a:ext cx="11789229" cy="533478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buNone/>
            </a:pPr>
            <a:r>
              <a:rPr lang="en-US" sz="2400" dirty="0" smtClean="0"/>
              <a:t>Although this project is mainly analytical, </a:t>
            </a:r>
            <a:r>
              <a:rPr lang="en-US" sz="2400" dirty="0" smtClean="0"/>
              <a:t>the  following </a:t>
            </a:r>
            <a:r>
              <a:rPr lang="en-US" sz="2400" dirty="0" smtClean="0"/>
              <a:t>data analysis process is </a:t>
            </a:r>
            <a:r>
              <a:rPr lang="en-US" sz="2400" dirty="0" smtClean="0"/>
              <a:t>used:          </a:t>
            </a:r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Data </a:t>
            </a:r>
            <a:r>
              <a:rPr lang="en-US" sz="2400" b="1" dirty="0" smtClean="0"/>
              <a:t>Input                                		         </a:t>
            </a:r>
            <a:endParaRPr lang="en-US" sz="2400" b="1" dirty="0" smtClean="0"/>
          </a:p>
          <a:p>
            <a:r>
              <a:rPr lang="en-US" sz="2400" dirty="0" smtClean="0"/>
              <a:t>Employee dataset including:</a:t>
            </a:r>
          </a:p>
          <a:p>
            <a:r>
              <a:rPr lang="en-US" sz="2400" dirty="0" smtClean="0"/>
              <a:t>Age</a:t>
            </a:r>
          </a:p>
          <a:p>
            <a:r>
              <a:rPr lang="en-US" sz="2400" dirty="0" smtClean="0"/>
              <a:t>Salary</a:t>
            </a:r>
          </a:p>
          <a:p>
            <a:r>
              <a:rPr lang="en-US" sz="2400" dirty="0" smtClean="0"/>
              <a:t>Job Role</a:t>
            </a:r>
          </a:p>
          <a:p>
            <a:r>
              <a:rPr lang="en-US" sz="2400" dirty="0" smtClean="0"/>
              <a:t>Education</a:t>
            </a:r>
          </a:p>
          <a:p>
            <a:r>
              <a:rPr lang="en-US" sz="2400" dirty="0" smtClean="0"/>
              <a:t>Years at Company</a:t>
            </a:r>
          </a:p>
          <a:p>
            <a:r>
              <a:rPr lang="en-US" sz="2400" dirty="0" smtClean="0"/>
              <a:t>Attrition status</a:t>
            </a:r>
          </a:p>
          <a:p>
            <a:pPr>
              <a:buNone/>
            </a:pPr>
            <a:r>
              <a:rPr lang="en-US" sz="2400" b="1" dirty="0" smtClean="0"/>
              <a:t>Data Processing</a:t>
            </a:r>
          </a:p>
          <a:p>
            <a:r>
              <a:rPr lang="en-US" sz="2400" dirty="0" smtClean="0"/>
              <a:t>Data cleaning using Power Query</a:t>
            </a:r>
          </a:p>
          <a:p>
            <a:r>
              <a:rPr lang="en-US" sz="2400" dirty="0" smtClean="0"/>
              <a:t>Calculating measures like attrition rate</a:t>
            </a:r>
          </a:p>
          <a:p>
            <a:r>
              <a:rPr lang="en-US" sz="2400" dirty="0" smtClean="0"/>
              <a:t>Categorizing employees by salary slab, age group</a:t>
            </a:r>
            <a:r>
              <a:rPr lang="en-US" sz="2400" dirty="0" smtClean="0"/>
              <a:t>,</a:t>
            </a:r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   </a:t>
            </a:r>
            <a:r>
              <a:rPr lang="en-US" sz="2400" dirty="0" smtClean="0"/>
              <a:t>and department</a:t>
            </a:r>
          </a:p>
          <a:p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7462157" y="3575957"/>
            <a:ext cx="451598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/>
              <a:t>Data Visualization</a:t>
            </a:r>
          </a:p>
          <a:p>
            <a:r>
              <a:rPr lang="en-US" sz="2200" dirty="0" smtClean="0"/>
              <a:t>Power BI visual components used:</a:t>
            </a:r>
          </a:p>
          <a:p>
            <a:r>
              <a:rPr lang="en-US" sz="2200" dirty="0" smtClean="0"/>
              <a:t>Bar charts</a:t>
            </a:r>
          </a:p>
          <a:p>
            <a:r>
              <a:rPr lang="en-US" sz="2200" dirty="0" smtClean="0"/>
              <a:t>Pie charts</a:t>
            </a:r>
          </a:p>
          <a:p>
            <a:r>
              <a:rPr lang="en-US" sz="2200" dirty="0" smtClean="0"/>
              <a:t>Line graphs</a:t>
            </a:r>
          </a:p>
          <a:p>
            <a:r>
              <a:rPr lang="en-US" sz="2200" dirty="0" smtClean="0"/>
              <a:t>KPI cards</a:t>
            </a:r>
          </a:p>
          <a:p>
            <a:r>
              <a:rPr lang="en-US" sz="2200" dirty="0" smtClean="0"/>
              <a:t>Tables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4" name="Content Placeholder 3" descr="Screenshot 2026-03-15 18430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936" y="1584325"/>
            <a:ext cx="7574004" cy="4251325"/>
          </a:xfrm>
        </p:spPr>
      </p:pic>
      <p:pic>
        <p:nvPicPr>
          <p:cNvPr id="5" name="Picture 4" descr="Screenshot 2026-03-15 184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9" y="1224643"/>
            <a:ext cx="11658599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57" y="1440848"/>
            <a:ext cx="10515600" cy="464970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buNone/>
            </a:pPr>
            <a:r>
              <a:rPr lang="en-US" sz="2400" dirty="0" smtClean="0"/>
              <a:t>Important findings from the analysis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r>
              <a:rPr lang="en-US" sz="2400" dirty="0" smtClean="0"/>
              <a:t>Highest attrition occurs in the </a:t>
            </a:r>
            <a:r>
              <a:rPr lang="en-US" sz="2400" b="1" dirty="0" smtClean="0"/>
              <a:t>26–35 age group</a:t>
            </a:r>
            <a:endParaRPr lang="en-US" sz="2400" dirty="0" smtClean="0"/>
          </a:p>
          <a:p>
            <a:r>
              <a:rPr lang="en-US" sz="2400" dirty="0" smtClean="0"/>
              <a:t>Employees earning </a:t>
            </a:r>
            <a:r>
              <a:rPr lang="en-US" sz="2400" b="1" dirty="0" smtClean="0"/>
              <a:t>up to 5K salary show the highest attrition</a:t>
            </a:r>
            <a:endParaRPr lang="en-US" sz="2400" dirty="0" smtClean="0"/>
          </a:p>
          <a:p>
            <a:r>
              <a:rPr lang="en-US" sz="2400" b="1" dirty="0" smtClean="0"/>
              <a:t>Sales Executives and Laboratory Technicians</a:t>
            </a:r>
            <a:r>
              <a:rPr lang="en-US" sz="2400" dirty="0" smtClean="0"/>
              <a:t> have the highest turnover</a:t>
            </a:r>
          </a:p>
          <a:p>
            <a:r>
              <a:rPr lang="en-US" sz="2400" dirty="0" smtClean="0"/>
              <a:t>Majority of attrition occurs within the </a:t>
            </a:r>
            <a:r>
              <a:rPr lang="en-US" sz="2400" b="1" dirty="0" smtClean="0"/>
              <a:t>first few years in the company</a:t>
            </a:r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The HR Analytics Dashboard successfully analyzes employee attrition using Power BI.</a:t>
            </a:r>
          </a:p>
          <a:p>
            <a:pPr>
              <a:buNone/>
            </a:pPr>
            <a:r>
              <a:rPr lang="en-US" sz="2400" dirty="0" smtClean="0"/>
              <a:t>The system helps organizations:</a:t>
            </a:r>
          </a:p>
          <a:p>
            <a:r>
              <a:rPr lang="en-US" sz="2400" dirty="0" smtClean="0"/>
              <a:t>Understand employee turnover patterns</a:t>
            </a:r>
          </a:p>
          <a:p>
            <a:r>
              <a:rPr lang="en-US" sz="2400" dirty="0" smtClean="0"/>
              <a:t>Identify departments with high attrition</a:t>
            </a:r>
          </a:p>
          <a:p>
            <a:r>
              <a:rPr lang="en-US" sz="2400" dirty="0" smtClean="0"/>
              <a:t>Make better HR decisions based on data</a:t>
            </a:r>
          </a:p>
          <a:p>
            <a:pPr>
              <a:buNone/>
            </a:pPr>
            <a:r>
              <a:rPr lang="en-US" sz="2400" dirty="0" smtClean="0"/>
              <a:t>This dashboard improves workforce management by providing </a:t>
            </a:r>
            <a:r>
              <a:rPr lang="en-US" sz="2400" b="1" dirty="0" smtClean="0"/>
              <a:t>clear and interactive </a:t>
            </a:r>
            <a:r>
              <a:rPr lang="en-US" sz="2400" b="1" dirty="0" smtClean="0"/>
              <a:t>visual</a:t>
            </a:r>
          </a:p>
          <a:p>
            <a:pPr>
              <a:buNone/>
            </a:pPr>
            <a:r>
              <a:rPr lang="en-US" sz="2400" b="1" dirty="0" smtClean="0"/>
              <a:t>insights</a:t>
            </a:r>
            <a:r>
              <a:rPr lang="en-US" sz="2400" b="1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Future scope</a:t>
            </a:r>
            <a:r>
              <a:rPr lang="en-US" sz="4000" b="1" cap="all" dirty="0" smtClean="0">
                <a:latin typeface="Arial" panose="020B0604020202020204"/>
                <a:cs typeface="Arial" panose="020B0604020202020204"/>
              </a:rPr>
              <a:t>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 </a:t>
            </a:r>
            <a:r>
              <a:rPr lang="en-US" sz="2400" dirty="0" smtClean="0"/>
              <a:t>system can be enhanced in the future by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r>
              <a:rPr lang="en-US" sz="2400" dirty="0" smtClean="0"/>
              <a:t>Integrating </a:t>
            </a:r>
            <a:r>
              <a:rPr lang="en-US" sz="2400" b="1" dirty="0" smtClean="0"/>
              <a:t>Machine Learning models</a:t>
            </a:r>
            <a:r>
              <a:rPr lang="en-US" sz="2400" dirty="0" smtClean="0"/>
              <a:t> to predict employee attrition</a:t>
            </a:r>
          </a:p>
          <a:p>
            <a:r>
              <a:rPr lang="en-US" sz="2400" dirty="0" smtClean="0"/>
              <a:t>Connecting with </a:t>
            </a:r>
            <a:r>
              <a:rPr lang="en-US" sz="2400" b="1" dirty="0" smtClean="0"/>
              <a:t>real-time HR databases</a:t>
            </a:r>
            <a:endParaRPr lang="en-US" sz="2400" dirty="0" smtClean="0"/>
          </a:p>
          <a:p>
            <a:r>
              <a:rPr lang="en-US" sz="2400" dirty="0" smtClean="0"/>
              <a:t>Adding more HR metrics such as job satisfaction and performance scores</a:t>
            </a:r>
          </a:p>
          <a:p>
            <a:r>
              <a:rPr lang="en-US" sz="2400" dirty="0" smtClean="0"/>
              <a:t>Deploying dashboards on </a:t>
            </a:r>
            <a:r>
              <a:rPr lang="en-US" sz="2400" b="1" dirty="0" smtClean="0"/>
              <a:t>Power BI Service for live monitoring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smtClean="0"/>
              <a:t>Microsoft Power </a:t>
            </a:r>
            <a:r>
              <a:rPr lang="en-US" sz="2400" dirty="0" smtClean="0"/>
              <a:t>BI</a:t>
            </a:r>
            <a:endParaRPr lang="en-US" sz="2400" dirty="0" smtClean="0"/>
          </a:p>
          <a:p>
            <a:r>
              <a:rPr lang="en-US" sz="2400" dirty="0" smtClean="0"/>
              <a:t>HR Analytics Dataset - https://drive.google.com/file/d/18G8LQsq-Bthr74LYhboH7d6sctPcnJdE/view?usp=sharing</a:t>
            </a:r>
          </a:p>
          <a:p>
            <a:r>
              <a:rPr lang="en-US" sz="2400" dirty="0" smtClean="0"/>
              <a:t>Data Visualization best practices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462</Words>
  <Application>WPS Presentation</Application>
  <PresentationFormat>Custom</PresentationFormat>
  <Paragraphs>98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1_Office Theme</vt:lpstr>
      <vt:lpstr>Custom Design</vt:lpstr>
      <vt:lpstr>Slide 1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Slide 10</vt:lpstr>
      <vt:lpstr>References: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Aditya Kumar Verma</cp:lastModifiedBy>
  <cp:revision>109</cp:revision>
  <dcterms:created xsi:type="dcterms:W3CDTF">2024-05-21T11:55:00Z</dcterms:created>
  <dcterms:modified xsi:type="dcterms:W3CDTF">2026-03-15T14:09:46Z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